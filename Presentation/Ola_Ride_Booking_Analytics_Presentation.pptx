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58" r:id="rId5"/>
    <p:sldId id="261" r:id="rId6"/>
    <p:sldId id="260"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4992-C797-0EF4-8D93-FA7A89CBD09D}"/>
              </a:ext>
            </a:extLst>
          </p:cNvPr>
          <p:cNvSpPr>
            <a:spLocks noGrp="1"/>
          </p:cNvSpPr>
          <p:nvPr>
            <p:ph type="ctrTitle"/>
          </p:nvPr>
        </p:nvSpPr>
        <p:spPr>
          <a:xfrm>
            <a:off x="1060257" y="2452255"/>
            <a:ext cx="8852669" cy="97674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Q&amp;A Tool in Retail Industry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AE04ACC-8A31-B6B4-6A1D-0DE4884D7321}"/>
              </a:ext>
            </a:extLst>
          </p:cNvPr>
          <p:cNvSpPr txBox="1"/>
          <p:nvPr/>
        </p:nvSpPr>
        <p:spPr>
          <a:xfrm>
            <a:off x="790094" y="4961840"/>
            <a:ext cx="233757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Presented by :</a:t>
            </a:r>
          </a:p>
          <a:p>
            <a:endParaRPr lang="en-US" dirty="0"/>
          </a:p>
          <a:p>
            <a:r>
              <a:rPr lang="en-US" dirty="0" err="1">
                <a:latin typeface="Times New Roman" panose="02020603050405020304" pitchFamily="18" charset="0"/>
                <a:cs typeface="Times New Roman" panose="02020603050405020304" pitchFamily="18" charset="0"/>
              </a:rPr>
              <a:t>Raykar</a:t>
            </a:r>
            <a:r>
              <a:rPr lang="en-US" dirty="0">
                <a:latin typeface="Times New Roman" panose="02020603050405020304" pitchFamily="18" charset="0"/>
                <a:cs typeface="Times New Roman" panose="02020603050405020304" pitchFamily="18" charset="0"/>
              </a:rPr>
              <a:t> Shital Sanjay</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15760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DD4E7F-3DA9-446D-BF60-E32A10304736}"/>
              </a:ext>
            </a:extLst>
          </p:cNvPr>
          <p:cNvSpPr txBox="1"/>
          <p:nvPr/>
        </p:nvSpPr>
        <p:spPr>
          <a:xfrm>
            <a:off x="433821" y="307263"/>
            <a:ext cx="6104658" cy="923330"/>
          </a:xfrm>
          <a:prstGeom prst="rect">
            <a:avLst/>
          </a:prstGeom>
          <a:noFill/>
        </p:spPr>
        <p:txBody>
          <a:bodyPr wrap="square">
            <a:spAutoFit/>
          </a:bodyPr>
          <a:lstStyle/>
          <a:p>
            <a:r>
              <a:rPr lang="en-IN" sz="5400" b="1" dirty="0">
                <a:solidFill>
                  <a:schemeClr val="tx1">
                    <a:lumMod val="95000"/>
                    <a:lumOff val="5000"/>
                  </a:schemeClr>
                </a:solidFill>
                <a:latin typeface="Times New Roman" panose="02020603050405020304" pitchFamily="18" charset="0"/>
                <a:cs typeface="Times New Roman" panose="02020603050405020304" pitchFamily="18" charset="0"/>
              </a:rPr>
              <a:t>Introduction</a:t>
            </a:r>
            <a:endParaRPr lang="en-IN" dirty="0"/>
          </a:p>
        </p:txBody>
      </p:sp>
      <p:sp>
        <p:nvSpPr>
          <p:cNvPr id="5" name="TextBox 4">
            <a:extLst>
              <a:ext uri="{FF2B5EF4-FFF2-40B4-BE49-F238E27FC236}">
                <a16:creationId xmlns:a16="http://schemas.microsoft.com/office/drawing/2014/main" id="{9FDD24A9-1F05-6716-B0E4-0B0E3F8C8B60}"/>
              </a:ext>
            </a:extLst>
          </p:cNvPr>
          <p:cNvSpPr txBox="1"/>
          <p:nvPr/>
        </p:nvSpPr>
        <p:spPr>
          <a:xfrm>
            <a:off x="124691" y="1724890"/>
            <a:ext cx="9777845" cy="3042937"/>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It is a </a:t>
            </a:r>
            <a:r>
              <a:rPr lang="en-IN" sz="2400" b="1" dirty="0">
                <a:latin typeface="Times New Roman" panose="02020603050405020304" pitchFamily="18" charset="0"/>
                <a:cs typeface="Times New Roman" panose="02020603050405020304" pitchFamily="18" charset="0"/>
              </a:rPr>
              <a:t>Generative AI based application</a:t>
            </a:r>
            <a:r>
              <a:rPr lang="en-IN" sz="2400" dirty="0">
                <a:latin typeface="Times New Roman" panose="02020603050405020304" pitchFamily="18" charset="0"/>
                <a:cs typeface="Times New Roman" panose="02020603050405020304" pitchFamily="18" charset="0"/>
              </a:rPr>
              <a:t> developed for answering questions related to T-shirt retail </a:t>
            </a:r>
            <a:r>
              <a:rPr lang="en-IN" sz="2400" dirty="0" err="1">
                <a:latin typeface="Times New Roman" panose="02020603050405020304" pitchFamily="18" charset="0"/>
                <a:cs typeface="Times New Roman" panose="02020603050405020304" pitchFamily="18" charset="0"/>
              </a:rPr>
              <a:t>data.My</a:t>
            </a:r>
            <a:r>
              <a:rPr lang="en-IN" sz="2400" dirty="0">
                <a:latin typeface="Times New Roman" panose="02020603050405020304" pitchFamily="18" charset="0"/>
                <a:cs typeface="Times New Roman" panose="02020603050405020304" pitchFamily="18" charset="0"/>
              </a:rPr>
              <a:t> project uses a </a:t>
            </a:r>
            <a:r>
              <a:rPr lang="en-IN" sz="2400" b="1" dirty="0">
                <a:latin typeface="Times New Roman" panose="02020603050405020304" pitchFamily="18" charset="0"/>
                <a:cs typeface="Times New Roman" panose="02020603050405020304" pitchFamily="18" charset="0"/>
              </a:rPr>
              <a:t>MySQL database</a:t>
            </a:r>
            <a:r>
              <a:rPr lang="en-IN" sz="2400" dirty="0">
                <a:latin typeface="Times New Roman" panose="02020603050405020304" pitchFamily="18" charset="0"/>
                <a:cs typeface="Times New Roman" panose="02020603050405020304" pitchFamily="18" charset="0"/>
              </a:rPr>
              <a:t> that contains information such as brand, </a:t>
            </a:r>
            <a:r>
              <a:rPr lang="en-IN" sz="2400" dirty="0" err="1">
                <a:latin typeface="Times New Roman" panose="02020603050405020304" pitchFamily="18" charset="0"/>
                <a:cs typeface="Times New Roman" panose="02020603050405020304" pitchFamily="18" charset="0"/>
              </a:rPr>
              <a:t>color</a:t>
            </a:r>
            <a:r>
              <a:rPr lang="en-IN" sz="2400" dirty="0">
                <a:latin typeface="Times New Roman" panose="02020603050405020304" pitchFamily="18" charset="0"/>
                <a:cs typeface="Times New Roman" panose="02020603050405020304" pitchFamily="18" charset="0"/>
              </a:rPr>
              <a:t>, size, price, stock quantity and </a:t>
            </a:r>
            <a:r>
              <a:rPr lang="en-IN" sz="2400" dirty="0" err="1">
                <a:latin typeface="Times New Roman" panose="02020603050405020304" pitchFamily="18" charset="0"/>
                <a:cs typeface="Times New Roman" panose="02020603050405020304" pitchFamily="18" charset="0"/>
              </a:rPr>
              <a:t>discounts.Normally</a:t>
            </a:r>
            <a:r>
              <a:rPr lang="en-IN" sz="2400" dirty="0">
                <a:latin typeface="Times New Roman" panose="02020603050405020304" pitchFamily="18" charset="0"/>
                <a:cs typeface="Times New Roman" panose="02020603050405020304" pitchFamily="18" charset="0"/>
              </a:rPr>
              <a:t>, to get this information from the database, a user needs to write SQL queries. In my project, the user does not need to write SQL manually. The user can simply ask a question in natural </a:t>
            </a:r>
            <a:r>
              <a:rPr lang="en-IN" sz="2400" dirty="0" err="1">
                <a:latin typeface="Times New Roman" panose="02020603050405020304" pitchFamily="18" charset="0"/>
                <a:cs typeface="Times New Roman" panose="02020603050405020304" pitchFamily="18" charset="0"/>
              </a:rPr>
              <a:t>language.The</a:t>
            </a:r>
            <a:r>
              <a:rPr lang="en-IN" sz="2400" dirty="0">
                <a:latin typeface="Times New Roman" panose="02020603050405020304" pitchFamily="18" charset="0"/>
                <a:cs typeface="Times New Roman" panose="02020603050405020304" pitchFamily="18" charset="0"/>
              </a:rPr>
              <a:t> main purpose of my project is to make it easier for users to get retail database information without writing SQL queries manually.</a:t>
            </a:r>
          </a:p>
        </p:txBody>
      </p:sp>
    </p:spTree>
    <p:extLst>
      <p:ext uri="{BB962C8B-B14F-4D97-AF65-F5344CB8AC3E}">
        <p14:creationId xmlns:p14="http://schemas.microsoft.com/office/powerpoint/2010/main" val="326743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46A3EA-36C4-664B-EABE-63B4ECC4C41D}"/>
              </a:ext>
            </a:extLst>
          </p:cNvPr>
          <p:cNvSpPr txBox="1"/>
          <p:nvPr/>
        </p:nvSpPr>
        <p:spPr>
          <a:xfrm>
            <a:off x="249380" y="1630740"/>
            <a:ext cx="8751743" cy="1569660"/>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main problem is that employees who do not know SQL may find it difficult to access database information. Therefore, my project allows them to ask questions in natural language and get the required T-shirt data without writing SQL queries manually.”</a:t>
            </a:r>
          </a:p>
        </p:txBody>
      </p:sp>
      <p:sp>
        <p:nvSpPr>
          <p:cNvPr id="4" name="TextBox 3">
            <a:extLst>
              <a:ext uri="{FF2B5EF4-FFF2-40B4-BE49-F238E27FC236}">
                <a16:creationId xmlns:a16="http://schemas.microsoft.com/office/drawing/2014/main" id="{8E1C58E2-D2B1-199C-5250-B1FAEBAA42B8}"/>
              </a:ext>
            </a:extLst>
          </p:cNvPr>
          <p:cNvSpPr txBox="1"/>
          <p:nvPr/>
        </p:nvSpPr>
        <p:spPr>
          <a:xfrm>
            <a:off x="457200" y="301336"/>
            <a:ext cx="7356764" cy="923330"/>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Problem Statement</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72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39725A-D89A-422D-29FE-1B37564A3797}"/>
              </a:ext>
            </a:extLst>
          </p:cNvPr>
          <p:cNvSpPr txBox="1"/>
          <p:nvPr/>
        </p:nvSpPr>
        <p:spPr>
          <a:xfrm>
            <a:off x="257176" y="213744"/>
            <a:ext cx="6104658" cy="923330"/>
          </a:xfrm>
          <a:prstGeom prst="rect">
            <a:avLst/>
          </a:prstGeom>
          <a:noFill/>
        </p:spPr>
        <p:txBody>
          <a:bodyPr wrap="square">
            <a:spAutoFit/>
          </a:bodyPr>
          <a:lstStyle/>
          <a:p>
            <a:r>
              <a:rPr lang="en-US" sz="5400" b="1" dirty="0">
                <a:solidFill>
                  <a:schemeClr val="tx1">
                    <a:lumMod val="95000"/>
                    <a:lumOff val="5000"/>
                  </a:schemeClr>
                </a:solidFill>
                <a:latin typeface="Times New Roman" panose="02020603050405020304" pitchFamily="18" charset="0"/>
                <a:cs typeface="Times New Roman" panose="02020603050405020304" pitchFamily="18" charset="0"/>
              </a:rPr>
              <a:t>Technologies Used</a:t>
            </a:r>
            <a:endParaRPr lang="en-IN" dirty="0"/>
          </a:p>
        </p:txBody>
      </p:sp>
      <p:sp>
        <p:nvSpPr>
          <p:cNvPr id="5" name="TextBox 4">
            <a:extLst>
              <a:ext uri="{FF2B5EF4-FFF2-40B4-BE49-F238E27FC236}">
                <a16:creationId xmlns:a16="http://schemas.microsoft.com/office/drawing/2014/main" id="{1994BC85-2DAA-737E-5295-943F4F7A919D}"/>
              </a:ext>
            </a:extLst>
          </p:cNvPr>
          <p:cNvSpPr txBox="1"/>
          <p:nvPr/>
        </p:nvSpPr>
        <p:spPr>
          <a:xfrm>
            <a:off x="374072" y="1720840"/>
            <a:ext cx="9663545" cy="3416320"/>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Python </a:t>
            </a:r>
            <a:r>
              <a:rPr lang="en-IN" sz="2400" dirty="0">
                <a:latin typeface="Times New Roman" panose="02020603050405020304" pitchFamily="18" charset="0"/>
                <a:cs typeface="Times New Roman" panose="02020603050405020304" pitchFamily="18" charset="0"/>
              </a:rPr>
              <a:t>– Application development and backend logic</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b="1" dirty="0">
                <a:latin typeface="Times New Roman" panose="02020603050405020304" pitchFamily="18" charset="0"/>
                <a:cs typeface="Times New Roman" panose="02020603050405020304" pitchFamily="18" charset="0"/>
              </a:rPr>
              <a:t>MySQL </a:t>
            </a:r>
            <a:r>
              <a:rPr lang="en-IN" sz="2400" dirty="0">
                <a:latin typeface="Times New Roman" panose="02020603050405020304" pitchFamily="18" charset="0"/>
                <a:cs typeface="Times New Roman" panose="02020603050405020304" pitchFamily="18" charset="0"/>
              </a:rPr>
              <a:t>– T-shirt retail data storage and SQL query execution</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b="1" dirty="0" err="1">
                <a:latin typeface="Times New Roman" panose="02020603050405020304" pitchFamily="18" charset="0"/>
                <a:cs typeface="Times New Roman" panose="02020603050405020304" pitchFamily="18" charset="0"/>
              </a:rPr>
              <a:t>Ollama</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Running and connecting the local LLM</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b="1" dirty="0">
                <a:latin typeface="Times New Roman" panose="02020603050405020304" pitchFamily="18" charset="0"/>
                <a:cs typeface="Times New Roman" panose="02020603050405020304" pitchFamily="18" charset="0"/>
              </a:rPr>
              <a:t>Llama 3.2 </a:t>
            </a:r>
            <a:r>
              <a:rPr lang="en-IN" sz="2400" dirty="0">
                <a:latin typeface="Times New Roman" panose="02020603050405020304" pitchFamily="18" charset="0"/>
                <a:cs typeface="Times New Roman" panose="02020603050405020304" pitchFamily="18" charset="0"/>
              </a:rPr>
              <a:t>– Understanding user questions and generating SQL queries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b="1" dirty="0" err="1">
                <a:latin typeface="Times New Roman" panose="02020603050405020304" pitchFamily="18" charset="0"/>
                <a:cs typeface="Times New Roman" panose="02020603050405020304" pitchFamily="18" charset="0"/>
              </a:rPr>
              <a:t>Streamlit</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Building the interactive web interface and displaying results</a:t>
            </a:r>
          </a:p>
        </p:txBody>
      </p:sp>
    </p:spTree>
    <p:extLst>
      <p:ext uri="{BB962C8B-B14F-4D97-AF65-F5344CB8AC3E}">
        <p14:creationId xmlns:p14="http://schemas.microsoft.com/office/powerpoint/2010/main" val="311173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05056D-FA81-9AD8-E76C-9C05ECC61274}"/>
              </a:ext>
            </a:extLst>
          </p:cNvPr>
          <p:cNvSpPr txBox="1"/>
          <p:nvPr/>
        </p:nvSpPr>
        <p:spPr>
          <a:xfrm>
            <a:off x="153266" y="120226"/>
            <a:ext cx="6104658" cy="923330"/>
          </a:xfrm>
          <a:prstGeom prst="rect">
            <a:avLst/>
          </a:prstGeom>
          <a:noFill/>
        </p:spPr>
        <p:txBody>
          <a:bodyPr wrap="square">
            <a:spAutoFit/>
          </a:bodyPr>
          <a:lstStyle/>
          <a:p>
            <a:r>
              <a:rPr lang="en-IN" sz="5400" b="1" dirty="0">
                <a:solidFill>
                  <a:schemeClr val="tx1">
                    <a:lumMod val="95000"/>
                    <a:lumOff val="5000"/>
                  </a:schemeClr>
                </a:solidFill>
                <a:latin typeface="Times New Roman" panose="02020603050405020304" pitchFamily="18" charset="0"/>
                <a:cs typeface="Times New Roman" panose="02020603050405020304" pitchFamily="18" charset="0"/>
              </a:rPr>
              <a:t>Project Workflow</a:t>
            </a:r>
            <a:endParaRPr lang="en-IN" b="1" dirty="0"/>
          </a:p>
        </p:txBody>
      </p:sp>
      <p:pic>
        <p:nvPicPr>
          <p:cNvPr id="5" name="Picture 4">
            <a:extLst>
              <a:ext uri="{FF2B5EF4-FFF2-40B4-BE49-F238E27FC236}">
                <a16:creationId xmlns:a16="http://schemas.microsoft.com/office/drawing/2014/main" id="{3D21BC48-5AFD-1F11-8C24-9AF5286A9EB9}"/>
              </a:ext>
            </a:extLst>
          </p:cNvPr>
          <p:cNvPicPr>
            <a:picLocks noChangeAspect="1"/>
          </p:cNvPicPr>
          <p:nvPr/>
        </p:nvPicPr>
        <p:blipFill>
          <a:blip r:embed="rId2"/>
          <a:stretch>
            <a:fillRect/>
          </a:stretch>
        </p:blipFill>
        <p:spPr>
          <a:xfrm>
            <a:off x="381000" y="1298863"/>
            <a:ext cx="8887691" cy="4998028"/>
          </a:xfrm>
          <a:prstGeom prst="rect">
            <a:avLst/>
          </a:prstGeom>
        </p:spPr>
      </p:pic>
    </p:spTree>
    <p:extLst>
      <p:ext uri="{BB962C8B-B14F-4D97-AF65-F5344CB8AC3E}">
        <p14:creationId xmlns:p14="http://schemas.microsoft.com/office/powerpoint/2010/main" val="2511417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7CEFA7-397F-2530-3D96-D0858851F9D0}"/>
              </a:ext>
            </a:extLst>
          </p:cNvPr>
          <p:cNvSpPr txBox="1"/>
          <p:nvPr/>
        </p:nvSpPr>
        <p:spPr>
          <a:xfrm>
            <a:off x="319522" y="301474"/>
            <a:ext cx="6104658" cy="923330"/>
          </a:xfrm>
          <a:prstGeom prst="rect">
            <a:avLst/>
          </a:prstGeom>
          <a:noFill/>
        </p:spPr>
        <p:txBody>
          <a:bodyPr wrap="square">
            <a:spAutoFit/>
          </a:bodyPr>
          <a:lstStyle/>
          <a:p>
            <a:r>
              <a:rPr lang="en-US" sz="5400" b="1" dirty="0">
                <a:latin typeface="Times New Roman" panose="02020603050405020304" pitchFamily="18" charset="0"/>
                <a:cs typeface="Times New Roman" panose="02020603050405020304" pitchFamily="18" charset="0"/>
              </a:rPr>
              <a:t>Future Scope</a:t>
            </a:r>
            <a:endParaRPr lang="en-IN" sz="5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74CDEED-B617-CAD5-49C2-744F109F9ED0}"/>
              </a:ext>
            </a:extLst>
          </p:cNvPr>
          <p:cNvSpPr txBox="1"/>
          <p:nvPr/>
        </p:nvSpPr>
        <p:spPr>
          <a:xfrm>
            <a:off x="166255" y="1848811"/>
            <a:ext cx="9767454" cy="1938992"/>
          </a:xfrm>
          <a:prstGeom prst="rect">
            <a:avLst/>
          </a:prstGeom>
          <a:noFill/>
        </p:spPr>
        <p:txBody>
          <a:bodyPr wrap="square">
            <a:spAutoFit/>
          </a:bodyPr>
          <a:lstStyle/>
          <a:p>
            <a:pPr algn="just">
              <a:buNone/>
            </a:pP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In the future, this project can be improved by adding RAG for better information retrieval, support for multiple databases, conversational chat history, advanced data visualization, voice-based queries, and multiple LLM </a:t>
            </a:r>
            <a:r>
              <a:rPr lang="en-IN" sz="2400" dirty="0" err="1">
                <a:solidFill>
                  <a:schemeClr val="tx1">
                    <a:lumMod val="85000"/>
                    <a:lumOff val="15000"/>
                  </a:schemeClr>
                </a:solidFill>
                <a:latin typeface="Times New Roman" panose="02020603050405020304" pitchFamily="18" charset="0"/>
                <a:cs typeface="Times New Roman" panose="02020603050405020304" pitchFamily="18" charset="0"/>
              </a:rPr>
              <a:t>models.These</a:t>
            </a:r>
            <a:r>
              <a:rPr lang="en-IN" sz="2400" dirty="0">
                <a:solidFill>
                  <a:schemeClr val="tx1">
                    <a:lumMod val="85000"/>
                    <a:lumOff val="15000"/>
                  </a:schemeClr>
                </a:solidFill>
                <a:latin typeface="Times New Roman" panose="02020603050405020304" pitchFamily="18" charset="0"/>
                <a:cs typeface="Times New Roman" panose="02020603050405020304" pitchFamily="18" charset="0"/>
              </a:rPr>
              <a:t> improvements will make the system more flexible, user-friendly, and useful for real-world retail data analysis</a:t>
            </a:r>
          </a:p>
        </p:txBody>
      </p:sp>
    </p:spTree>
    <p:extLst>
      <p:ext uri="{BB962C8B-B14F-4D97-AF65-F5344CB8AC3E}">
        <p14:creationId xmlns:p14="http://schemas.microsoft.com/office/powerpoint/2010/main" val="3867419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1897C9-264A-6176-C852-DADAA22C7D4B}"/>
              </a:ext>
            </a:extLst>
          </p:cNvPr>
          <p:cNvSpPr txBox="1"/>
          <p:nvPr/>
        </p:nvSpPr>
        <p:spPr>
          <a:xfrm>
            <a:off x="846858" y="290945"/>
            <a:ext cx="4073236" cy="923330"/>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Conclusion</a:t>
            </a:r>
            <a:endParaRPr lang="en-IN" sz="5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76CC744-A669-6456-EBE5-40CAC00FC991}"/>
              </a:ext>
            </a:extLst>
          </p:cNvPr>
          <p:cNvSpPr txBox="1"/>
          <p:nvPr/>
        </p:nvSpPr>
        <p:spPr>
          <a:xfrm>
            <a:off x="311727" y="1620211"/>
            <a:ext cx="9216735" cy="1569660"/>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Retail Q&amp;A Tool allows users to access T-shirt database information using natural language. It reduces the need for manual SQL queries and makes database access easier for non-SQL users.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85131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415</TotalTime>
  <Words>311</Words>
  <Application>Microsoft Office PowerPoint</Application>
  <PresentationFormat>Widescreen</PresentationFormat>
  <Paragraphs>23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Times New Roman</vt:lpstr>
      <vt:lpstr>Trebuchet MS</vt:lpstr>
      <vt:lpstr>Wingdings 3</vt:lpstr>
      <vt:lpstr>Facet</vt:lpstr>
      <vt:lpstr>Q&amp;A Tool in Retail Industry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shitalraykar244@gmail.com</dc:creator>
  <cp:lastModifiedBy>shitalraykar244@gmail.com</cp:lastModifiedBy>
  <cp:revision>6</cp:revision>
  <dcterms:created xsi:type="dcterms:W3CDTF">2026-08-30T06:57:17Z</dcterms:created>
  <dcterms:modified xsi:type="dcterms:W3CDTF">2026-09-03T14:39:50Z</dcterms:modified>
</cp:coreProperties>
</file>